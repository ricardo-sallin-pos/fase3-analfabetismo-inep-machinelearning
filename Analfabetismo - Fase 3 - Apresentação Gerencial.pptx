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51327ee7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51327ee7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51327ee7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51327ee7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51327ee7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51327ee7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51327ee7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51327ee7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51327ee7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51327ee7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51327ee7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51327ee7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b41b89e7a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b41b89e7a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b59bba65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b59bba65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3a4b416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3a4b416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asedosdados.org/dataset/073a39d4-89cf-4068-b1e8-34ed0d9c0b72?table=e1de7a6a-5038-4e81-89f0-a15f2cc12c9b" TargetMode="External"/><Relationship Id="rId4" Type="http://schemas.openxmlformats.org/officeDocument/2006/relationships/hyperlink" Target="https://www.kaggle.com/datasets/kira_fintech/ibge-pnad-contnua-2016-2024-microdata-parquet" TargetMode="External"/><Relationship Id="rId10" Type="http://schemas.openxmlformats.org/officeDocument/2006/relationships/hyperlink" Target="https://conectaprofessores.com/2026/01/03/fundeb-2026-veja-quanto-cada-municipio-vai-receber-para-investir-em-educacao/#google_vignette" TargetMode="External"/><Relationship Id="rId9" Type="http://schemas.openxmlformats.org/officeDocument/2006/relationships/hyperlink" Target="https://conectaprofessores.com/wp-content/uploads/2026/01/Portaria-Interm.-Mec-MF-no-13-de-29-de-Dezembro-de-2025.pdf" TargetMode="External"/><Relationship Id="rId5" Type="http://schemas.openxmlformats.org/officeDocument/2006/relationships/hyperlink" Target="https://www.gov.br/portos-e-aeroportos/pt-br/assuntos/transporte-aereo/plano-aeroviario-nacional/apendice_vii__dados_de_municipios_e_utp_pan24.xlsx/@@download/file" TargetMode="External"/><Relationship Id="rId6" Type="http://schemas.openxmlformats.org/officeDocument/2006/relationships/hyperlink" Target="https://www.ibge.gov.br/" TargetMode="External"/><Relationship Id="rId7" Type="http://schemas.openxmlformats.org/officeDocument/2006/relationships/hyperlink" Target="https://www.ibge.gov.br/estatisticas/sociais/populacao/22827-censo-demografico-2022.html" TargetMode="External"/><Relationship Id="rId8" Type="http://schemas.openxmlformats.org/officeDocument/2006/relationships/hyperlink" Target="http://meufundeb.com.br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713725" y="744575"/>
            <a:ext cx="77163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Analfabetismo: identificando fatores e prioridades para batimento de metas</a:t>
            </a:r>
            <a:endParaRPr sz="4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3152186"/>
            <a:ext cx="5085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Fiap Pós - AI Scientist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Fase 3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931450" y="3152186"/>
            <a:ext cx="4053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Grupo:</a:t>
            </a:r>
            <a:endParaRPr sz="2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Ricardo Sallin - RM 372803</a:t>
            </a:r>
            <a:endParaRPr sz="2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Bruno Saralha - RM 370184</a:t>
            </a:r>
            <a:endParaRPr sz="2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Fernando Medeiros - RM 370318</a:t>
            </a:r>
            <a:endParaRPr sz="2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Rodrigo Alves - RM 372519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 problema de negócio está sendo resolvido?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6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Pesquisa Alfabetiza Brasil (2023)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Criança alfabetizada = 743 pontos no Saeb na prova de Língua Portuguesa (LP)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Meta: 100% de crianças Alfabetizadas até 2030.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Dados socioeconômicos ajudam a prever: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Municípios problemáticos para atingimento de meta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Municípios com melhores resultados obtidos com os recursos atuais</a:t>
            </a:r>
            <a:endParaRPr sz="1600"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4950" y="3346800"/>
            <a:ext cx="3474100" cy="155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 problema de negócio está sendo resolvido?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35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Hipóteses de trabalho: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Renda média:</a:t>
            </a:r>
            <a:r>
              <a:rPr lang="en"/>
              <a:t> em municípios mais ricos as crianças performam melhor?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Alfabetização dos pais:</a:t>
            </a:r>
            <a:r>
              <a:rPr lang="en"/>
              <a:t> ambientes com mais letramento dos adultos influenciam positivamente?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Investimento em educação:</a:t>
            </a:r>
            <a:r>
              <a:rPr lang="en"/>
              <a:t> municípios que investem mais obtêm mais "retorno" em literácia e, indiretamente, em produtividade e no próprio PIB?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Dificuldade de acesso:</a:t>
            </a:r>
            <a:r>
              <a:rPr lang="en"/>
              <a:t> municípios com poucas escolas proporcionalmente à população, ou por área, alfabetizam menos?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Região Metropolitana: </a:t>
            </a:r>
            <a:r>
              <a:rPr lang="en"/>
              <a:t>será que municípios próximos à capital alfabetizam menos?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de Dados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78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INEP - alfabetização infantil: </a:t>
            </a:r>
            <a:r>
              <a:rPr lang="en" u="sng">
                <a:solidFill>
                  <a:schemeClr val="hlink"/>
                </a:solidFill>
                <a:hlinkClick r:id="rId3"/>
              </a:rPr>
              <a:t>basedosdados.org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Renda média por município: </a:t>
            </a:r>
            <a:r>
              <a:rPr lang="en" u="sng">
                <a:solidFill>
                  <a:schemeClr val="hlink"/>
                </a:solidFill>
                <a:hlinkClick r:id="rId4"/>
              </a:rPr>
              <a:t>Kaggle PNAD</a:t>
            </a:r>
            <a:r>
              <a:rPr lang="en"/>
              <a:t> + </a:t>
            </a:r>
            <a:r>
              <a:rPr lang="en" u="sng">
                <a:solidFill>
                  <a:schemeClr val="hlink"/>
                </a:solidFill>
                <a:hlinkClick r:id="rId5"/>
              </a:rPr>
              <a:t>Lat-Long</a:t>
            </a:r>
            <a:r>
              <a:rPr lang="en"/>
              <a:t> municipal para inferência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Repasse Fundeb por município: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Complementação Vaaf-Vaat/Vaar: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Despesas Educação: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Área/pop por município: </a:t>
            </a:r>
            <a:r>
              <a:rPr lang="en" u="sng">
                <a:solidFill>
                  <a:schemeClr val="hlink"/>
                </a:solidFill>
                <a:hlinkClick r:id="rId6"/>
              </a:rPr>
              <a:t>IBGE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Alfabetização adultos (20-64) e idosos (65+): </a:t>
            </a:r>
            <a:r>
              <a:rPr lang="en" u="sng">
                <a:solidFill>
                  <a:schemeClr val="hlink"/>
                </a:solidFill>
                <a:hlinkClick r:id="rId7"/>
              </a:rPr>
              <a:t>Censo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Ajustes manuais nos dados Gov: nomes de municípios, agrupamentos etc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Importação de CSV’s </a:t>
            </a:r>
            <a:r>
              <a:rPr lang="en"/>
              <a:t>no BigQuery (</a:t>
            </a:r>
            <a:r>
              <a:rPr lang="en"/>
              <a:t>Camada Bronze) + SQL (camadas Silver/Gold)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Tabelas Gold alimentando modelos ML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4622033" y="1780496"/>
            <a:ext cx="1960800" cy="12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MeuFundeb</a:t>
            </a:r>
            <a:r>
              <a:rPr lang="en" sz="1800"/>
              <a:t>, </a:t>
            </a:r>
            <a:r>
              <a:rPr lang="en" sz="1800" u="sng">
                <a:solidFill>
                  <a:schemeClr val="hlink"/>
                </a:solidFill>
                <a:hlinkClick r:id="rId9"/>
              </a:rPr>
              <a:t>Diário Oficial</a:t>
            </a:r>
            <a:r>
              <a:rPr lang="en" sz="1800"/>
              <a:t> e </a:t>
            </a:r>
            <a:r>
              <a:rPr lang="en" sz="1800" u="sng">
                <a:solidFill>
                  <a:schemeClr val="hlink"/>
                </a:solidFill>
                <a:hlinkClick r:id="rId10"/>
              </a:rPr>
              <a:t>ConectaProfs</a:t>
            </a:r>
            <a:endParaRPr sz="1800"/>
          </a:p>
        </p:txBody>
      </p:sp>
      <p:sp>
        <p:nvSpPr>
          <p:cNvPr id="77" name="Google Shape;77;p16"/>
          <p:cNvSpPr/>
          <p:nvPr/>
        </p:nvSpPr>
        <p:spPr>
          <a:xfrm>
            <a:off x="4228319" y="1906928"/>
            <a:ext cx="387300" cy="869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12696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Estrutura das tabelas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816250"/>
            <a:ext cx="3949800" cy="43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Bronze: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Courier New"/>
                <a:ea typeface="Courier New"/>
                <a:cs typeface="Courier New"/>
                <a:sym typeface="Courier New"/>
              </a:rPr>
              <a:t>area_pop</a:t>
            </a:r>
            <a:r>
              <a:rPr lang="en" sz="1100"/>
              <a:t>: dados básicos por município (nome, UF, área km2 e população)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Courier New"/>
                <a:ea typeface="Courier New"/>
                <a:cs typeface="Courier New"/>
                <a:sym typeface="Courier New"/>
              </a:rPr>
              <a:t>mun_renda_inferida</a:t>
            </a:r>
            <a:r>
              <a:rPr lang="en" sz="1100"/>
              <a:t>: renda média por município de ~200 maiores cidades, e inferência para os demais ~5370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Courier New"/>
                <a:ea typeface="Courier New"/>
                <a:cs typeface="Courier New"/>
                <a:sym typeface="Courier New"/>
              </a:rPr>
              <a:t>receitas_despesas</a:t>
            </a:r>
            <a:r>
              <a:rPr lang="en" sz="1100"/>
              <a:t>: valor repassado pelo Fundeb por município, e complementações VAAF, VAAT e VAAR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Courier New"/>
                <a:ea typeface="Courier New"/>
                <a:cs typeface="Courier New"/>
                <a:sym typeface="Courier New"/>
              </a:rPr>
              <a:t>dist_km_capital</a:t>
            </a:r>
            <a:r>
              <a:rPr lang="en" sz="1100"/>
              <a:t>: latitude, longitude, e distância até a capital correspondente em km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Courier New"/>
                <a:ea typeface="Courier New"/>
                <a:cs typeface="Courier New"/>
                <a:sym typeface="Courier New"/>
              </a:rPr>
              <a:t>alfabetizacao_infantil</a:t>
            </a:r>
            <a:r>
              <a:rPr lang="en" sz="1100"/>
              <a:t> : qtd alunos, % alfabetizados, e qtd escolas,por município, por ano (23-24)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Courier New"/>
                <a:ea typeface="Courier New"/>
                <a:cs typeface="Courier New"/>
                <a:sym typeface="Courier New"/>
              </a:rPr>
              <a:t>alfabetizacao_adultos_idosos</a:t>
            </a:r>
            <a:r>
              <a:rPr lang="en" sz="1100"/>
              <a:t>: qtd pessoas e % alfabetizado por município, faixas 20-64 anos e 65+ anos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Courier New"/>
                <a:ea typeface="Courier New"/>
                <a:cs typeface="Courier New"/>
                <a:sym typeface="Courier New"/>
              </a:rPr>
              <a:t>_meta</a:t>
            </a:r>
            <a:r>
              <a:rPr lang="en" sz="1100"/>
              <a:t>: metas de alfabetização ‘25 por município obtida no módulo anterior do curso</a:t>
            </a:r>
            <a:endParaRPr sz="1100"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403760" y="816250"/>
            <a:ext cx="2452200" cy="43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Silver: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Courier New"/>
                <a:ea typeface="Courier New"/>
                <a:cs typeface="Courier New"/>
                <a:sym typeface="Courier New"/>
              </a:rPr>
              <a:t>_municipios</a:t>
            </a:r>
            <a:r>
              <a:rPr lang="en" sz="1100"/>
              <a:t>: tabela temporária dos municípios: nome, uf, lat/long, capital, população, área, densidade, renda média, receitas e despesas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Courier New"/>
                <a:ea typeface="Courier New"/>
                <a:cs typeface="Courier New"/>
                <a:sym typeface="Courier New"/>
              </a:rPr>
              <a:t>_alfabetizacao</a:t>
            </a:r>
            <a:r>
              <a:rPr lang="en" sz="1100"/>
              <a:t>: tabela temporária juntando alfab infantil, adulto e idoso e dados Censo escolar (qtd escolas, alunos etc)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Courier New"/>
                <a:ea typeface="Courier New"/>
                <a:cs typeface="Courier New"/>
                <a:sym typeface="Courier New"/>
              </a:rPr>
              <a:t>_silverfinal</a:t>
            </a:r>
            <a:r>
              <a:rPr lang="en" sz="1100"/>
              <a:t>: tabela reunindo todas as variáveis que irão para algum modelo ML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latin typeface="Courier New"/>
                <a:ea typeface="Courier New"/>
                <a:cs typeface="Courier New"/>
                <a:sym typeface="Courier New"/>
              </a:rPr>
              <a:t>_silverfinal_semnulos</a:t>
            </a:r>
            <a:r>
              <a:rPr lang="en" sz="1100"/>
              <a:t>: tabela extra, apenas imputando zeros para os nulos da </a:t>
            </a:r>
            <a:r>
              <a:rPr b="1" lang="en" sz="1100">
                <a:latin typeface="Courier New"/>
                <a:ea typeface="Courier New"/>
                <a:cs typeface="Courier New"/>
                <a:sym typeface="Courier New"/>
              </a:rPr>
              <a:t>_silverfinal</a:t>
            </a:r>
            <a:endParaRPr sz="1100"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7048000" y="816250"/>
            <a:ext cx="1933800" cy="43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Gold</a:t>
            </a:r>
            <a:r>
              <a:rPr lang="en" sz="1100"/>
              <a:t>: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Courier New"/>
                <a:ea typeface="Courier New"/>
                <a:cs typeface="Courier New"/>
                <a:sym typeface="Courier New"/>
              </a:rPr>
              <a:t>_reg_arv_treino</a:t>
            </a:r>
            <a:r>
              <a:rPr lang="en" sz="1100"/>
              <a:t>: tabela de treino para os modelos de Regressão Logística e Random Forest. Contém apenas 2023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Courier New"/>
                <a:ea typeface="Courier New"/>
                <a:cs typeface="Courier New"/>
                <a:sym typeface="Courier New"/>
              </a:rPr>
              <a:t>_reg_arv_teste</a:t>
            </a:r>
            <a:r>
              <a:rPr lang="en" sz="1100"/>
              <a:t>: tabela de teste para os modelos de Regressão Logística e Random Forest. Contém apenas 2024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Courier New"/>
                <a:ea typeface="Courier New"/>
                <a:cs typeface="Courier New"/>
                <a:sym typeface="Courier New"/>
              </a:rPr>
              <a:t>_kmeans_treino</a:t>
            </a:r>
            <a:r>
              <a:rPr lang="en" sz="1100"/>
              <a:t>: tabela de treino para o modelo de K-means. Contém apenas 2023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9925" y="942975"/>
            <a:ext cx="2524075" cy="25167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Clusterização de Municípios com K-means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671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Variáveis usadas: população, densidade, renda, alfabetização (adulto e idoso apenas: infantil (target) não entrou), distância à capital e se é capital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Grupos identificados: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Capitais: </a:t>
            </a:r>
            <a:r>
              <a:rPr lang="en"/>
              <a:t>grandes e densas</a:t>
            </a:r>
            <a:r>
              <a:rPr lang="en"/>
              <a:t>, com</a:t>
            </a:r>
            <a:r>
              <a:rPr lang="en"/>
              <a:t> alta renda </a:t>
            </a:r>
            <a:r>
              <a:rPr lang="en"/>
              <a:t>e</a:t>
            </a:r>
            <a:r>
              <a:rPr lang="en"/>
              <a:t> muito alfabetizadas (grupo 5)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Regiões Metropolitanas: </a:t>
            </a:r>
            <a:r>
              <a:rPr lang="en"/>
              <a:t>parecidas com as Capitais, mas menos ricas e alfabetizadas (grupo 4)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Interior/Ricas: </a:t>
            </a:r>
            <a:r>
              <a:rPr lang="en"/>
              <a:t>cidades menores, com renda menor. Começam os desafios educacionais (grupos 3 e 2)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Interior/Pobres: </a:t>
            </a:r>
            <a:r>
              <a:rPr lang="en"/>
              <a:t>baixa renda per capita dificulta acesso à escola (grupos 0 e 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Ranqueamento de fatores com Random Forest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865550"/>
            <a:ext cx="4205100" cy="33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Variáveis preditoras utilizadas: distância à capital, área, densidade, renda, repasse Fundeb+Compl, qtd alunos/escolas, alfabetização adultos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Fatores estruturais: Alfab adultos e Renda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Principal fator acionável: </a:t>
            </a:r>
            <a:r>
              <a:rPr b="1" lang="en" sz="1400"/>
              <a:t>Receita Fundeb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Complementações VAA têm peso menor</a:t>
            </a:r>
            <a:endParaRPr sz="1400"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7200" y="1450900"/>
            <a:ext cx="4526800" cy="347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Probabilidade Ating. Meta com Regressão Logística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219200"/>
            <a:ext cx="3058500" cy="19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Variáveis preditoras utilizadas: </a:t>
            </a:r>
            <a:r>
              <a:rPr lang="en" sz="1400"/>
              <a:t>alfabetização adultos, renda, escolas/100k, </a:t>
            </a:r>
            <a:r>
              <a:rPr lang="en" sz="1400"/>
              <a:t>Compl VAAF e VAAT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Top municípios mais e menos propensos a atingir as metas de Alfabetização ‘25</a:t>
            </a:r>
            <a:endParaRPr sz="1400"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3946" y="1511611"/>
            <a:ext cx="2904725" cy="1156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 rotWithShape="1">
          <a:blip r:embed="rId4">
            <a:alphaModFix/>
          </a:blip>
          <a:srcRect b="2525" l="0" r="0" t="0"/>
          <a:stretch/>
        </p:blipFill>
        <p:spPr>
          <a:xfrm>
            <a:off x="3718725" y="1219200"/>
            <a:ext cx="2295925" cy="16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415384"/>
            <a:ext cx="4658005" cy="1459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3441" y="3426965"/>
            <a:ext cx="4350553" cy="1450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12696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Conclusões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453975" y="1067225"/>
            <a:ext cx="7927800" cy="40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Financiamento Fundeb </a:t>
            </a:r>
            <a:r>
              <a:rPr lang="en" sz="1700"/>
              <a:t>foi a variável de maior impacto no modelo, mas com coeficiente negativo, associado a municípios com maior financiamento e menor analfabetismo.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Retomamos a EDA para investigar o resultado, comparando financiamento Fundeb e atingimento das metas entre 2023 (treino) e 2024 (teste).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Alta variabilidade nas duas variáveis, </a:t>
            </a:r>
            <a:r>
              <a:rPr lang="en" sz="1700"/>
              <a:t>resultando em uma correlação muito baixa entre financiamento e atingimento da meta.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Concluímos que são necessárias mais variáveis, detalhando como o Fundeb é aplicado, e fatores socioeconômicos como infraestrutura, ensino, criminalidade e insegurança alimentar.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1064924"/>
            <a:ext cx="8520600" cy="157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Obrigado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