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2E23E79-4A31-47A8-8ED0-94E05C562DE2}">
  <a:tblStyle styleId="{02E23E79-4A31-47A8-8ED0-94E05C562DE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51327ee7f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51327ee7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51327ee7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51327ee7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51327ee7f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f51327ee7f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f51327ee7f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f51327ee7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51327ee7f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f51327ee7f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f51327ee7f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f51327ee7f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b41b89e7a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fb41b89e7a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b6249e16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fb6249e16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b6249e16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b6249e16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fb59bba659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fb59bba659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3a4b416d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f3a4b416d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basedosdados.org/dataset/073a39d4-89cf-4068-b1e8-34ed0d9c0b72?table=e1de7a6a-5038-4e81-89f0-a15f2cc12c9b" TargetMode="External"/><Relationship Id="rId4" Type="http://schemas.openxmlformats.org/officeDocument/2006/relationships/hyperlink" Target="https://www.kaggle.com/datasets/kira_fintech/ibge-pnad-contnua-2016-2024-microdata-parquet" TargetMode="External"/><Relationship Id="rId10" Type="http://schemas.openxmlformats.org/officeDocument/2006/relationships/hyperlink" Target="https://conectaprofessores.com/2026/01/03/fundeb-2026-veja-quanto-cada-municipio-vai-receber-para-investir-em-educacao/#google_vignette" TargetMode="External"/><Relationship Id="rId9" Type="http://schemas.openxmlformats.org/officeDocument/2006/relationships/hyperlink" Target="https://conectaprofessores.com/wp-content/uploads/2026/01/Portaria-Interm.-Mec-MF-no-13-de-29-de-Dezembro-de-2025.pdf" TargetMode="External"/><Relationship Id="rId5" Type="http://schemas.openxmlformats.org/officeDocument/2006/relationships/hyperlink" Target="https://www.gov.br/portos-e-aeroportos/pt-br/assuntos/transporte-aereo/plano-aeroviario-nacional/apendice_vii__dados_de_municipios_e_utp_pan24.xlsx/@@download/file" TargetMode="External"/><Relationship Id="rId6" Type="http://schemas.openxmlformats.org/officeDocument/2006/relationships/hyperlink" Target="https://www.ibge.gov.br/" TargetMode="External"/><Relationship Id="rId7" Type="http://schemas.openxmlformats.org/officeDocument/2006/relationships/hyperlink" Target="https://www.ibge.gov.br/estatisticas/sociais/populacao/22827-censo-demografico-2022.html" TargetMode="External"/><Relationship Id="rId8" Type="http://schemas.openxmlformats.org/officeDocument/2006/relationships/hyperlink" Target="http://meufundeb.com.br/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713725" y="744575"/>
            <a:ext cx="77163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/>
              <a:t>Analfabetismo: identificando fatores e prioridades para batimento de metas</a:t>
            </a:r>
            <a:endParaRPr sz="4000"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0" y="3152186"/>
            <a:ext cx="5085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Fiap Pós - AI Scientist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Fase 3</a:t>
            </a:r>
            <a:endParaRPr/>
          </a:p>
        </p:txBody>
      </p:sp>
      <p:sp>
        <p:nvSpPr>
          <p:cNvPr id="56" name="Google Shape;56;p13"/>
          <p:cNvSpPr txBox="1"/>
          <p:nvPr>
            <p:ph idx="1" type="subTitle"/>
          </p:nvPr>
        </p:nvSpPr>
        <p:spPr>
          <a:xfrm>
            <a:off x="4931450" y="3152186"/>
            <a:ext cx="40530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Grupo:</a:t>
            </a:r>
            <a:endParaRPr sz="20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Ricardo Sallin - RM 372803</a:t>
            </a:r>
            <a:endParaRPr sz="20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Bruno Saralha - RM 370184</a:t>
            </a:r>
            <a:endParaRPr sz="20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Fernando Medeiros - RM 370318</a:t>
            </a:r>
            <a:endParaRPr sz="2000"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Rodrigo Alves - RM 372519</a:t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 problema de negócio está sendo resolvido?</a:t>
            </a:r>
            <a:endParaRPr/>
          </a:p>
        </p:txBody>
      </p:sp>
      <p:sp>
        <p:nvSpPr>
          <p:cNvPr id="62" name="Google Shape;62;p14"/>
          <p:cNvSpPr txBox="1"/>
          <p:nvPr>
            <p:ph idx="1" type="body"/>
          </p:nvPr>
        </p:nvSpPr>
        <p:spPr>
          <a:xfrm>
            <a:off x="311700" y="1152475"/>
            <a:ext cx="8663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Pesquisa Alfabetiza Brasil (2023)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Criança alfabetizada = 743 pontos no Saeb na prova de Língua Portuguesa (LP)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Meta: 100% de crianças Alfabetizadas até 2030.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/>
              <a:t>Dados socioeconômicos ajudam a prever: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Municípios problemáticos para atingimento de meta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Municípios com melhores resultados obtidos com os recursos atuais</a:t>
            </a:r>
            <a:endParaRPr sz="1600"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34950" y="3346800"/>
            <a:ext cx="3474100" cy="15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Qual problema de negócio está sendo resolvido?</a:t>
            </a:r>
            <a:endParaRPr/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152475"/>
            <a:ext cx="8354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Hipóteses de trabalho: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Renda média:</a:t>
            </a:r>
            <a:r>
              <a:rPr lang="en"/>
              <a:t> em municípios mais ricos as crianças performam melhor?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Alfabetização dos pais:</a:t>
            </a:r>
            <a:r>
              <a:rPr lang="en"/>
              <a:t> ambientes com mais letramento dos adultos influenciam positivamente?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Investimento em educação:</a:t>
            </a:r>
            <a:r>
              <a:rPr lang="en"/>
              <a:t> municípios que investem mais obtêm mais "retorno" em literácia e, indiretamente, em produtividade e no próprio PIB?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Dificuldade de acesso:</a:t>
            </a:r>
            <a:r>
              <a:rPr lang="en"/>
              <a:t> municípios com poucas escolas proporcionalmente à população, ou por área, alfabetizam menos?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Região Metropolitana: </a:t>
            </a:r>
            <a:r>
              <a:rPr lang="en"/>
              <a:t>será que municípios próximos à capital alfabetizam menos?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Pipeline de Dados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783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INEP - alfabetização infantil: </a:t>
            </a:r>
            <a:r>
              <a:rPr lang="en" u="sng">
                <a:solidFill>
                  <a:schemeClr val="hlink"/>
                </a:solidFill>
                <a:hlinkClick r:id="rId3"/>
              </a:rPr>
              <a:t>basedosdados.org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Renda média por município: </a:t>
            </a:r>
            <a:r>
              <a:rPr lang="en" u="sng">
                <a:solidFill>
                  <a:schemeClr val="hlink"/>
                </a:solidFill>
                <a:hlinkClick r:id="rId4"/>
              </a:rPr>
              <a:t>Kaggle PNAD</a:t>
            </a:r>
            <a:r>
              <a:rPr lang="en"/>
              <a:t> + </a:t>
            </a:r>
            <a:r>
              <a:rPr lang="en" u="sng">
                <a:solidFill>
                  <a:schemeClr val="hlink"/>
                </a:solidFill>
                <a:hlinkClick r:id="rId5"/>
              </a:rPr>
              <a:t>Lat-Long</a:t>
            </a:r>
            <a:r>
              <a:rPr lang="en"/>
              <a:t> municipal para inferência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Repasse Fundeb por município: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Complementação Vaaf-Vaat/Vaar: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Despesas Educação: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Área/pop por município: </a:t>
            </a:r>
            <a:r>
              <a:rPr lang="en" u="sng">
                <a:solidFill>
                  <a:schemeClr val="hlink"/>
                </a:solidFill>
                <a:hlinkClick r:id="rId6"/>
              </a:rPr>
              <a:t>IBGE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Alfabetização adultos (20-64) e idosos (65+): </a:t>
            </a:r>
            <a:r>
              <a:rPr lang="en" u="sng">
                <a:solidFill>
                  <a:schemeClr val="hlink"/>
                </a:solidFill>
                <a:hlinkClick r:id="rId7"/>
              </a:rPr>
              <a:t>Censo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Ajustes manuais nos dados Gov: nomes de municípios, agrupamentos etc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Importação de CSV’s </a:t>
            </a:r>
            <a:r>
              <a:rPr lang="en"/>
              <a:t>no BigQuery (</a:t>
            </a:r>
            <a:r>
              <a:rPr lang="en"/>
              <a:t>Camada Bronze) + SQL (camadas Silver/Gold)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Tabelas Gold alimentando modelos ML</a:t>
            </a:r>
            <a:endParaRPr/>
          </a:p>
        </p:txBody>
      </p:sp>
      <p:sp>
        <p:nvSpPr>
          <p:cNvPr id="76" name="Google Shape;76;p16"/>
          <p:cNvSpPr txBox="1"/>
          <p:nvPr/>
        </p:nvSpPr>
        <p:spPr>
          <a:xfrm>
            <a:off x="4622033" y="1780496"/>
            <a:ext cx="1960800" cy="121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 u="sng">
                <a:solidFill>
                  <a:schemeClr val="accent5"/>
                </a:solidFill>
                <a:hlinkClick r:id="rId8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MeuFundeb</a:t>
            </a:r>
            <a:r>
              <a:rPr lang="en" sz="1800"/>
              <a:t>, </a:t>
            </a:r>
            <a:r>
              <a:rPr lang="en" sz="1800" u="sng">
                <a:solidFill>
                  <a:schemeClr val="hlink"/>
                </a:solidFill>
                <a:hlinkClick r:id="rId9"/>
              </a:rPr>
              <a:t>Diário Oficial</a:t>
            </a:r>
            <a:r>
              <a:rPr lang="en" sz="1800"/>
              <a:t> e </a:t>
            </a:r>
            <a:r>
              <a:rPr lang="en" sz="1800" u="sng">
                <a:solidFill>
                  <a:schemeClr val="hlink"/>
                </a:solidFill>
                <a:hlinkClick r:id="rId10"/>
              </a:rPr>
              <a:t>ConectaProfs</a:t>
            </a:r>
            <a:endParaRPr sz="1800"/>
          </a:p>
        </p:txBody>
      </p:sp>
      <p:sp>
        <p:nvSpPr>
          <p:cNvPr id="77" name="Google Shape;77;p16"/>
          <p:cNvSpPr/>
          <p:nvPr/>
        </p:nvSpPr>
        <p:spPr>
          <a:xfrm>
            <a:off x="4228319" y="1906928"/>
            <a:ext cx="387300" cy="869100"/>
          </a:xfrm>
          <a:prstGeom prst="rightBrace">
            <a:avLst>
              <a:gd fmla="val 50000" name="adj1"/>
              <a:gd fmla="val 50000" name="adj2"/>
            </a:avLst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type="title"/>
          </p:nvPr>
        </p:nvSpPr>
        <p:spPr>
          <a:xfrm>
            <a:off x="311700" y="126964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Estrutura das tabelas</a:t>
            </a:r>
            <a:endParaRPr/>
          </a:p>
        </p:txBody>
      </p:sp>
      <p:sp>
        <p:nvSpPr>
          <p:cNvPr id="83" name="Google Shape;83;p17"/>
          <p:cNvSpPr txBox="1"/>
          <p:nvPr>
            <p:ph idx="1" type="body"/>
          </p:nvPr>
        </p:nvSpPr>
        <p:spPr>
          <a:xfrm>
            <a:off x="311700" y="816250"/>
            <a:ext cx="3949800" cy="43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Bronze: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area_pop</a:t>
            </a:r>
            <a:r>
              <a:rPr lang="en" sz="1100"/>
              <a:t>: dados básicos por município (nome, UF, área km2 e população)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mun_renda_inferida</a:t>
            </a:r>
            <a:r>
              <a:rPr lang="en" sz="1100"/>
              <a:t>: renda média por município de ~200 maiores cidades, e inferência para os demais ~5370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receitas_despesas</a:t>
            </a:r>
            <a:r>
              <a:rPr lang="en" sz="1100"/>
              <a:t>: valor repassado pelo Fundeb por município, e complementações VAAF, VAAT e VAAR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dist_km_capital</a:t>
            </a:r>
            <a:r>
              <a:rPr lang="en" sz="1100"/>
              <a:t>: latitude, longitude, e distância até a capital correspondente em km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alfabetizacao_infantil</a:t>
            </a:r>
            <a:r>
              <a:rPr lang="en" sz="1100"/>
              <a:t> : qtd alunos, % alfabetizados, e qtd escolas,por município, por ano (23-24)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alfabetizacao_adultos_idosos</a:t>
            </a:r>
            <a:r>
              <a:rPr lang="en" sz="1100"/>
              <a:t>: qtd pessoas e % alfabetizado por município, faixas 20-64 anos e 65+ anos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_meta</a:t>
            </a:r>
            <a:r>
              <a:rPr lang="en" sz="1100"/>
              <a:t>: metas de alfabetização ‘25 por município obtida no módulo anterior do curso</a:t>
            </a:r>
            <a:endParaRPr sz="1100"/>
          </a:p>
        </p:txBody>
      </p:sp>
      <p:sp>
        <p:nvSpPr>
          <p:cNvPr id="84" name="Google Shape;84;p17"/>
          <p:cNvSpPr txBox="1"/>
          <p:nvPr>
            <p:ph idx="1" type="body"/>
          </p:nvPr>
        </p:nvSpPr>
        <p:spPr>
          <a:xfrm>
            <a:off x="4403760" y="816250"/>
            <a:ext cx="2452200" cy="43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Silver:</a:t>
            </a:r>
            <a:endParaRPr sz="1100"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_municipios</a:t>
            </a:r>
            <a:r>
              <a:rPr lang="en" sz="1100"/>
              <a:t>: tabela temporária dos municípios: nome, uf, lat/long, capital, população, área, densidade, renda média, receitas e despesas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_alfabetizacao</a:t>
            </a:r>
            <a:r>
              <a:rPr lang="en" sz="1100"/>
              <a:t>: tabela temporária juntando alfab infantil, adulto e idoso e dados Censo escolar (qtd escolas, alunos etc)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_silverfinal</a:t>
            </a:r>
            <a:r>
              <a:rPr lang="en" sz="1100"/>
              <a:t>: tabela reunindo todas as variáveis que irão para algum modelo ML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_silverfinal_semnulos</a:t>
            </a:r>
            <a:r>
              <a:rPr lang="en" sz="1100"/>
              <a:t>: tabela extra, apenas imputando zeros para os nulos da </a:t>
            </a: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_silverfinal</a:t>
            </a:r>
            <a:endParaRPr sz="1100"/>
          </a:p>
        </p:txBody>
      </p:sp>
      <p:sp>
        <p:nvSpPr>
          <p:cNvPr id="85" name="Google Shape;85;p17"/>
          <p:cNvSpPr txBox="1"/>
          <p:nvPr>
            <p:ph idx="1" type="body"/>
          </p:nvPr>
        </p:nvSpPr>
        <p:spPr>
          <a:xfrm>
            <a:off x="7048000" y="816250"/>
            <a:ext cx="1933800" cy="43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Gold</a:t>
            </a:r>
            <a:r>
              <a:rPr lang="en" sz="1100"/>
              <a:t>: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_reg_arv_treino</a:t>
            </a:r>
            <a:r>
              <a:rPr lang="en" sz="1100"/>
              <a:t>: tabela de treino para os modelos de Regressão Logística e Random Forest. Contém apenas 2023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_reg_arv_teste</a:t>
            </a:r>
            <a:r>
              <a:rPr lang="en" sz="1100"/>
              <a:t>: tabela de teste para os modelos de Regressão Logística e Random Forest. Contém apenas 2024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>
                <a:latin typeface="Courier New"/>
                <a:ea typeface="Courier New"/>
                <a:cs typeface="Courier New"/>
                <a:sym typeface="Courier New"/>
              </a:rPr>
              <a:t>_kmeans_treino</a:t>
            </a:r>
            <a:r>
              <a:rPr lang="en" sz="1100"/>
              <a:t>: tabela de treino para o modelo de K-means. Contém apenas 2023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19925" y="942975"/>
            <a:ext cx="2524075" cy="251677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Clusterização de Municípios com K-means</a:t>
            </a:r>
            <a:endParaRPr/>
          </a:p>
        </p:txBody>
      </p:sp>
      <p:sp>
        <p:nvSpPr>
          <p:cNvPr id="92" name="Google Shape;92;p18"/>
          <p:cNvSpPr txBox="1"/>
          <p:nvPr>
            <p:ph idx="1" type="body"/>
          </p:nvPr>
        </p:nvSpPr>
        <p:spPr>
          <a:xfrm>
            <a:off x="311700" y="1152475"/>
            <a:ext cx="6719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Variáveis usadas: população, densidade, renda, alfabetização (adulto e idoso apenas: infantil (target) não entrou), distância à capital e se é capital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Grupos identificados: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Capitais: </a:t>
            </a:r>
            <a:r>
              <a:rPr lang="en"/>
              <a:t>grandes e densas</a:t>
            </a:r>
            <a:r>
              <a:rPr lang="en"/>
              <a:t>, com</a:t>
            </a:r>
            <a:r>
              <a:rPr lang="en"/>
              <a:t> alta renda </a:t>
            </a:r>
            <a:r>
              <a:rPr lang="en"/>
              <a:t>e</a:t>
            </a:r>
            <a:r>
              <a:rPr lang="en"/>
              <a:t> muito alfabetizadas (grupo 5)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Regiões Metropolitanas: </a:t>
            </a:r>
            <a:r>
              <a:rPr lang="en"/>
              <a:t>parecidas com as Capitais, mas menos ricas e alfabetizadas (grupo 4)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Interior/Ricas: </a:t>
            </a:r>
            <a:r>
              <a:rPr lang="en"/>
              <a:t>cidades menores, com renda menor. Começam os desafios educacionais (grupos 3 e 2)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b="1" lang="en"/>
              <a:t>Interior/Pobres: </a:t>
            </a:r>
            <a:r>
              <a:rPr lang="en"/>
              <a:t>baixa renda per capita dificulta acesso à escola (grupos 0 e 1)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Ranqueamento de fatores com Random Forest</a:t>
            </a:r>
            <a:endParaRPr/>
          </a:p>
        </p:txBody>
      </p:sp>
      <p:sp>
        <p:nvSpPr>
          <p:cNvPr id="98" name="Google Shape;98;p19"/>
          <p:cNvSpPr txBox="1"/>
          <p:nvPr>
            <p:ph idx="1" type="body"/>
          </p:nvPr>
        </p:nvSpPr>
        <p:spPr>
          <a:xfrm>
            <a:off x="311700" y="1865550"/>
            <a:ext cx="4205100" cy="336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Variáveis preditoras utilizadas: distância à capital, área, densidade, renda, repasse Fundeb+Compl, qtd alunos/escolas, alfabetização adultos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Fatores estruturais: Alfab adultos e Renda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Principal fator acionável: </a:t>
            </a:r>
            <a:r>
              <a:rPr b="1" lang="en" sz="1400"/>
              <a:t>Receita Fundeb</a:t>
            </a:r>
            <a:endParaRPr b="1"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Complementações VAA têm peso menor</a:t>
            </a:r>
            <a:endParaRPr sz="1400"/>
          </a:p>
        </p:txBody>
      </p:sp>
      <p:pic>
        <p:nvPicPr>
          <p:cNvPr id="99" name="Google Shape;99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7200" y="1450900"/>
            <a:ext cx="4526800" cy="347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Probabilidade Ating. Meta com Regressão Logística</a:t>
            </a:r>
            <a:endParaRPr/>
          </a:p>
        </p:txBody>
      </p:sp>
      <p:sp>
        <p:nvSpPr>
          <p:cNvPr id="105" name="Google Shape;105;p20"/>
          <p:cNvSpPr txBox="1"/>
          <p:nvPr>
            <p:ph idx="1" type="body"/>
          </p:nvPr>
        </p:nvSpPr>
        <p:spPr>
          <a:xfrm>
            <a:off x="311700" y="1219200"/>
            <a:ext cx="3058500" cy="199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Variáveis preditoras utilizadas: </a:t>
            </a:r>
            <a:r>
              <a:rPr lang="en" sz="1400"/>
              <a:t>alfabetização adultos, renda, escolas/100k, </a:t>
            </a:r>
            <a:r>
              <a:rPr lang="en" sz="1400"/>
              <a:t>Compl VAAF e VAAT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Top municípios mais e menos propensos a atingir as metas de Alfabetização ‘25</a:t>
            </a:r>
            <a:endParaRPr sz="1400"/>
          </a:p>
        </p:txBody>
      </p:sp>
      <p:pic>
        <p:nvPicPr>
          <p:cNvPr id="106" name="Google Shape;10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03946" y="1511611"/>
            <a:ext cx="2904725" cy="11569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20"/>
          <p:cNvPicPr preferRelativeResize="0"/>
          <p:nvPr/>
        </p:nvPicPr>
        <p:blipFill rotWithShape="1">
          <a:blip r:embed="rId4">
            <a:alphaModFix/>
          </a:blip>
          <a:srcRect b="2525" l="0" r="0" t="0"/>
          <a:stretch/>
        </p:blipFill>
        <p:spPr>
          <a:xfrm>
            <a:off x="3718725" y="1219200"/>
            <a:ext cx="2295925" cy="1697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3415384"/>
            <a:ext cx="4658005" cy="1459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93441" y="3426965"/>
            <a:ext cx="4350553" cy="14501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Fundeb: impacto negativo na Regressão Logística</a:t>
            </a:r>
            <a:endParaRPr/>
          </a:p>
        </p:txBody>
      </p:sp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311700" y="1182926"/>
            <a:ext cx="5609700" cy="120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O coeficiente negativo do Fundeb na Regressão Logística nos chamou atenção e decidimos voltar à EDA para averiguar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Começamos com uma correlação direta entre Financiamento Fundeb (com ou sem as Complementações) e o Atingimento Meta (diferença entre a meta do município e a Alfab realizada)</a:t>
            </a:r>
            <a:endParaRPr sz="1400"/>
          </a:p>
        </p:txBody>
      </p:sp>
      <p:pic>
        <p:nvPicPr>
          <p:cNvPr id="116" name="Google Shape;116;p21"/>
          <p:cNvPicPr preferRelativeResize="0"/>
          <p:nvPr/>
        </p:nvPicPr>
        <p:blipFill rotWithShape="1">
          <a:blip r:embed="rId3">
            <a:alphaModFix/>
          </a:blip>
          <a:srcRect b="64526" l="0" r="0" t="0"/>
          <a:stretch/>
        </p:blipFill>
        <p:spPr>
          <a:xfrm>
            <a:off x="6015625" y="1153900"/>
            <a:ext cx="2936350" cy="790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1"/>
          <p:cNvSpPr txBox="1"/>
          <p:nvPr>
            <p:ph idx="1" type="body"/>
          </p:nvPr>
        </p:nvSpPr>
        <p:spPr>
          <a:xfrm>
            <a:off x="302622" y="2405775"/>
            <a:ext cx="8649300" cy="7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Essas variáveis têm correlação muito baixa, e ainda negativa (-0,14)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Casos extremos nos 4 quadrantes:</a:t>
            </a:r>
            <a:endParaRPr sz="1400"/>
          </a:p>
        </p:txBody>
      </p:sp>
      <p:sp>
        <p:nvSpPr>
          <p:cNvPr id="118" name="Google Shape;118;p21"/>
          <p:cNvSpPr/>
          <p:nvPr/>
        </p:nvSpPr>
        <p:spPr>
          <a:xfrm>
            <a:off x="6246850" y="1403625"/>
            <a:ext cx="1924200" cy="3393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9" name="Google Shape;119;p21" title="correl_fundeb_ating_meta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61948" y="2756036"/>
            <a:ext cx="3690025" cy="222475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20" name="Google Shape;120;p21"/>
          <p:cNvGraphicFramePr/>
          <p:nvPr/>
        </p:nvGraphicFramePr>
        <p:xfrm>
          <a:off x="598696" y="308523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{02E23E79-4A31-47A8-8ED0-94E05C562DE2}</a:tableStyleId>
              </a:tblPr>
              <a:tblGrid>
                <a:gridCol w="1572775"/>
                <a:gridCol w="780550"/>
                <a:gridCol w="734575"/>
                <a:gridCol w="588800"/>
                <a:gridCol w="559675"/>
              </a:tblGrid>
              <a:tr h="427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Cidade (pop)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Fundeb /aluno ‘23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Meta ‘23 %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Alfab</a:t>
                      </a:r>
                      <a:endParaRPr sz="900"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Ating.</a:t>
                      </a:r>
                      <a:endParaRPr sz="900"/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(pp)</a:t>
                      </a:r>
                      <a:endParaRPr sz="900"/>
                    </a:p>
                  </a:txBody>
                  <a:tcPr marT="91425" marB="91425" marR="91425" marL="91425"/>
                </a:tc>
              </a:tr>
              <a:tr h="34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Coruripe/AL (50k)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111k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80%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94%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+14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4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Januária/MG (65k)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60k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35%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40%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+5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008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Serrinha/BA (80k)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185k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41%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26%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-15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3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Maceió/AL </a:t>
                      </a:r>
                      <a:r>
                        <a:rPr b="1" lang="en" sz="900"/>
                        <a:t>(957k)</a:t>
                      </a:r>
                      <a:endParaRPr b="1"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57k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52%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39%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-13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21" name="Google Shape;121;p21"/>
          <p:cNvSpPr/>
          <p:nvPr/>
        </p:nvSpPr>
        <p:spPr>
          <a:xfrm>
            <a:off x="6304384" y="3295800"/>
            <a:ext cx="120300" cy="121500"/>
          </a:xfrm>
          <a:prstGeom prst="ellipse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1"/>
          <p:cNvSpPr/>
          <p:nvPr/>
        </p:nvSpPr>
        <p:spPr>
          <a:xfrm>
            <a:off x="5798344" y="3595230"/>
            <a:ext cx="120300" cy="1215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21"/>
          <p:cNvSpPr/>
          <p:nvPr/>
        </p:nvSpPr>
        <p:spPr>
          <a:xfrm>
            <a:off x="776458" y="4634653"/>
            <a:ext cx="120300" cy="1215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21"/>
          <p:cNvSpPr/>
          <p:nvPr/>
        </p:nvSpPr>
        <p:spPr>
          <a:xfrm>
            <a:off x="771052" y="4315820"/>
            <a:ext cx="120300" cy="121500"/>
          </a:xfrm>
          <a:prstGeom prst="ellipse">
            <a:avLst/>
          </a:prstGeom>
          <a:solidFill>
            <a:srgbClr val="98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1"/>
          <p:cNvSpPr/>
          <p:nvPr/>
        </p:nvSpPr>
        <p:spPr>
          <a:xfrm>
            <a:off x="772934" y="3638971"/>
            <a:ext cx="120300" cy="121500"/>
          </a:xfrm>
          <a:prstGeom prst="ellipse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1"/>
          <p:cNvSpPr/>
          <p:nvPr/>
        </p:nvSpPr>
        <p:spPr>
          <a:xfrm>
            <a:off x="765227" y="3983923"/>
            <a:ext cx="120300" cy="121500"/>
          </a:xfrm>
          <a:prstGeom prst="ellipse">
            <a:avLst/>
          </a:prstGeom>
          <a:solidFill>
            <a:srgbClr val="6AA84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1"/>
          <p:cNvSpPr/>
          <p:nvPr/>
        </p:nvSpPr>
        <p:spPr>
          <a:xfrm>
            <a:off x="5800251" y="4186378"/>
            <a:ext cx="120300" cy="1215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1"/>
          <p:cNvSpPr/>
          <p:nvPr/>
        </p:nvSpPr>
        <p:spPr>
          <a:xfrm>
            <a:off x="7130648" y="4283591"/>
            <a:ext cx="120300" cy="121500"/>
          </a:xfrm>
          <a:prstGeom prst="ellipse">
            <a:avLst/>
          </a:prstGeom>
          <a:solidFill>
            <a:srgbClr val="98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7409350" y="3469775"/>
            <a:ext cx="1587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800"/>
              <a:t>Financiamento concentrado em cidades com pouco retorno</a:t>
            </a:r>
            <a:endParaRPr sz="800"/>
          </a:p>
        </p:txBody>
      </p:sp>
      <p:sp>
        <p:nvSpPr>
          <p:cNvPr id="130" name="Google Shape;130;p21"/>
          <p:cNvSpPr/>
          <p:nvPr/>
        </p:nvSpPr>
        <p:spPr>
          <a:xfrm>
            <a:off x="6932725" y="3850825"/>
            <a:ext cx="1834800" cy="624300"/>
          </a:xfrm>
          <a:prstGeom prst="roundRect">
            <a:avLst>
              <a:gd fmla="val 16667" name="adj"/>
            </a:avLst>
          </a:prstGeom>
          <a:solidFill>
            <a:srgbClr val="FF0000">
              <a:alpha val="18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5" name="Google Shape;135;p22" title="correl_var_vs_va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050" y="2739540"/>
            <a:ext cx="3822100" cy="229326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Fundeb: impacto negativo na Regressão Logística</a:t>
            </a:r>
            <a:endParaRPr/>
          </a:p>
        </p:txBody>
      </p:sp>
      <p:sp>
        <p:nvSpPr>
          <p:cNvPr id="137" name="Google Shape;137;p22"/>
          <p:cNvSpPr txBox="1"/>
          <p:nvPr>
            <p:ph idx="1" type="body"/>
          </p:nvPr>
        </p:nvSpPr>
        <p:spPr>
          <a:xfrm>
            <a:off x="311700" y="1092200"/>
            <a:ext cx="7451400" cy="120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Grande variabilidade em ambas variáveis no tempo (‘24 vs ‘23)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Provavelmente resultado de variáveis políticas, emendas, “orçamento secreto” etc.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</a:t>
            </a:r>
            <a:r>
              <a:rPr lang="en" sz="1400"/>
              <a:t>emais variáveis explicativas do modelo (geográficas, sociais, macroeconômicas): todas fixas ou variando em décadas, não anos 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Dado que usamos 2023 como treino e 2024 como teste, essa variabilidade explica o papel de destaque dessa variável nos modelos</a:t>
            </a:r>
            <a:endParaRPr sz="1400"/>
          </a:p>
        </p:txBody>
      </p:sp>
      <p:graphicFrame>
        <p:nvGraphicFramePr>
          <p:cNvPr id="138" name="Google Shape;138;p22"/>
          <p:cNvGraphicFramePr/>
          <p:nvPr/>
        </p:nvGraphicFramePr>
        <p:xfrm>
          <a:off x="4395361" y="2908136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{02E23E79-4A31-47A8-8ED0-94E05C562DE2}</a:tableStyleId>
              </a:tblPr>
              <a:tblGrid>
                <a:gridCol w="1914975"/>
                <a:gridCol w="684475"/>
                <a:gridCol w="657975"/>
                <a:gridCol w="640325"/>
                <a:gridCol w="568150"/>
              </a:tblGrid>
              <a:tr h="4274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Cidade (pop)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Var. Fundeb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Ating. Meta ‘23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Ating. Meta ‘24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Var Ating.</a:t>
                      </a:r>
                      <a:endParaRPr sz="900"/>
                    </a:p>
                  </a:txBody>
                  <a:tcPr marT="91425" marB="91425" marR="91425" marL="91425"/>
                </a:tc>
              </a:tr>
              <a:tr h="3457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Cel. Fabriciano/MG (104k)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+21%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-10pp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+6pp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+16pp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46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São Borja/RS (59k)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+23%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-6pp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-23pp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-17pp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1008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Breves/PA (107k)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-19%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-11pp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+1pp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0000FF"/>
                          </a:solidFill>
                        </a:rPr>
                        <a:t>+12pp</a:t>
                      </a:r>
                      <a:endParaRPr b="1" sz="900">
                        <a:solidFill>
                          <a:srgbClr val="0000FF"/>
                        </a:solidFill>
                      </a:endParaRPr>
                    </a:p>
                  </a:txBody>
                  <a:tcPr marT="91425" marB="91425" marR="91425" marL="91425"/>
                </a:tc>
              </a:tr>
              <a:tr h="236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Iranduba/AL (61k)</a:t>
                      </a:r>
                      <a:endParaRPr b="1"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-18%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-11pp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-19pp</a:t>
                      </a:r>
                      <a:endParaRPr sz="9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900">
                          <a:solidFill>
                            <a:srgbClr val="FF0000"/>
                          </a:solidFill>
                        </a:rPr>
                        <a:t>-8pp</a:t>
                      </a:r>
                      <a:endParaRPr b="1" sz="900">
                        <a:solidFill>
                          <a:srgbClr val="FF0000"/>
                        </a:solidFill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39" name="Google Shape;139;p22"/>
          <p:cNvSpPr/>
          <p:nvPr/>
        </p:nvSpPr>
        <p:spPr>
          <a:xfrm>
            <a:off x="2058948" y="3738343"/>
            <a:ext cx="120300" cy="121500"/>
          </a:xfrm>
          <a:prstGeom prst="ellipse">
            <a:avLst/>
          </a:prstGeom>
          <a:solidFill>
            <a:srgbClr val="00D3E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FE2F3"/>
              </a:solidFill>
            </a:endParaRPr>
          </a:p>
        </p:txBody>
      </p:sp>
      <p:sp>
        <p:nvSpPr>
          <p:cNvPr id="140" name="Google Shape;140;p22"/>
          <p:cNvSpPr/>
          <p:nvPr/>
        </p:nvSpPr>
        <p:spPr>
          <a:xfrm>
            <a:off x="2079051" y="4291773"/>
            <a:ext cx="120300" cy="121500"/>
          </a:xfrm>
          <a:prstGeom prst="ellipse">
            <a:avLst/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2"/>
          <p:cNvSpPr/>
          <p:nvPr/>
        </p:nvSpPr>
        <p:spPr>
          <a:xfrm>
            <a:off x="4745333" y="4455135"/>
            <a:ext cx="120300" cy="121500"/>
          </a:xfrm>
          <a:prstGeom prst="ellipse">
            <a:avLst/>
          </a:prstGeom>
          <a:solidFill>
            <a:srgbClr val="CC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2"/>
          <p:cNvSpPr/>
          <p:nvPr/>
        </p:nvSpPr>
        <p:spPr>
          <a:xfrm>
            <a:off x="4767016" y="4126012"/>
            <a:ext cx="120300" cy="1215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A64D79"/>
              </a:solidFill>
            </a:endParaRPr>
          </a:p>
        </p:txBody>
      </p:sp>
      <p:sp>
        <p:nvSpPr>
          <p:cNvPr id="143" name="Google Shape;143;p22"/>
          <p:cNvSpPr/>
          <p:nvPr/>
        </p:nvSpPr>
        <p:spPr>
          <a:xfrm>
            <a:off x="4529905" y="3462764"/>
            <a:ext cx="120300" cy="121500"/>
          </a:xfrm>
          <a:prstGeom prst="ellipse">
            <a:avLst/>
          </a:prstGeom>
          <a:solidFill>
            <a:srgbClr val="00D3E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CFE2F3"/>
              </a:solidFill>
            </a:endParaRPr>
          </a:p>
        </p:txBody>
      </p:sp>
      <p:sp>
        <p:nvSpPr>
          <p:cNvPr id="144" name="Google Shape;144;p22"/>
          <p:cNvSpPr/>
          <p:nvPr/>
        </p:nvSpPr>
        <p:spPr>
          <a:xfrm>
            <a:off x="4715767" y="3807312"/>
            <a:ext cx="120300" cy="121500"/>
          </a:xfrm>
          <a:prstGeom prst="ellipse">
            <a:avLst/>
          </a:prstGeom>
          <a:solidFill>
            <a:schemeClr val="accent4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22"/>
          <p:cNvSpPr/>
          <p:nvPr/>
        </p:nvSpPr>
        <p:spPr>
          <a:xfrm>
            <a:off x="1173815" y="4184420"/>
            <a:ext cx="120300" cy="121500"/>
          </a:xfrm>
          <a:prstGeom prst="ellipse">
            <a:avLst/>
          </a:prstGeom>
          <a:solidFill>
            <a:srgbClr val="CC0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2"/>
          <p:cNvSpPr/>
          <p:nvPr/>
        </p:nvSpPr>
        <p:spPr>
          <a:xfrm>
            <a:off x="1125355" y="3782705"/>
            <a:ext cx="120300" cy="121500"/>
          </a:xfrm>
          <a:prstGeom prst="ellipse">
            <a:avLst/>
          </a:prstGeom>
          <a:solidFill>
            <a:schemeClr val="accent5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A64D79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/>
          <p:nvPr>
            <p:ph type="title"/>
          </p:nvPr>
        </p:nvSpPr>
        <p:spPr>
          <a:xfrm>
            <a:off x="311700" y="126964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Conclusões</a:t>
            </a:r>
            <a:endParaRPr/>
          </a:p>
        </p:txBody>
      </p:sp>
      <p:sp>
        <p:nvSpPr>
          <p:cNvPr id="152" name="Google Shape;152;p23"/>
          <p:cNvSpPr txBox="1"/>
          <p:nvPr>
            <p:ph idx="1" type="body"/>
          </p:nvPr>
        </p:nvSpPr>
        <p:spPr>
          <a:xfrm>
            <a:off x="453975" y="1067225"/>
            <a:ext cx="7927800" cy="407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en" sz="1700"/>
              <a:t>Financiamento Fundeb </a:t>
            </a:r>
            <a:r>
              <a:rPr lang="en" sz="1700"/>
              <a:t>foi a variável de maior impacto no modelo, mas com coeficiente negativo, associado a municípios com maior financiamento e menor analfabetismo.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Retomamos a EDA para investigar o resultado, comparando financiamento Fundeb e atingimento das metas entre 2023 (treino) e 2024 (teste).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b="1" lang="en" sz="1700"/>
              <a:t>Alta variabilidade nas duas variáveis, </a:t>
            </a:r>
            <a:r>
              <a:rPr lang="en" sz="1700"/>
              <a:t>resultando em uma correlação muito baixa entre financiamento e atingimento da meta.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Concluímos que são necessárias mais variáveis, detalhando como o Fundeb é aplicado, e fatores socioeconômicos como infraestrutura, ensino, criminalidade e insegurança alimentar.</a:t>
            </a:r>
            <a:endParaRPr sz="17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4"/>
          <p:cNvSpPr txBox="1"/>
          <p:nvPr>
            <p:ph type="title"/>
          </p:nvPr>
        </p:nvSpPr>
        <p:spPr>
          <a:xfrm>
            <a:off x="311700" y="1064924"/>
            <a:ext cx="8520600" cy="157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Obrigado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